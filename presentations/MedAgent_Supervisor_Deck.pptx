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05824"/>
            <a:ext cx="12191695" cy="86696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10972800" cy="5394960"/>
          </a:xfrm>
          <a:prstGeom prst="roundRect">
            <a:avLst/>
          </a:prstGeom>
          <a:solidFill>
            <a:srgbClr val="09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MedAgent: Human-Centred AI Support for Medication Adherence in Chronic Illness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0F1F2"/>
                </a:solidFill>
              </a:defRPr>
            </a:pPr>
            <a:r>
              <a:t>MSc prototype deck for supervisor meetings, viva preparation, and project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49834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1F2A37"/>
                </a:solidFill>
              </a:defRPr>
            </a:pPr>
            <a:r>
              <a:t>Early identification of medication non-adherence risk in chronic illness follow-up</a:t>
            </a:r>
          </a:p>
          <a:p>
            <a:pPr>
              <a:defRPr sz="1500">
                <a:solidFill>
                  <a:srgbClr val="1F2A37"/>
                </a:solidFill>
              </a:defRPr>
            </a:pPr>
            <a:r>
              <a:t>Local, reproducible prototype built with synthetic data only</a:t>
            </a:r>
          </a:p>
          <a:p>
            <a:pPr>
              <a:defRPr sz="1500">
                <a:solidFill>
                  <a:srgbClr val="1F2A37"/>
                </a:solidFill>
              </a:defRPr>
            </a:pPr>
            <a:r>
              <a:t>Clinician-supporting workflow rather than autonomous decision-making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4297680" cy="1325880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535"/>
                </a:solidFill>
              </a:defRPr>
            </a:pPr>
            <a:r>
              <a:t>Presentation focus</a:t>
            </a:r>
          </a:p>
          <a:p>
            <a:pPr>
              <a:defRPr sz="1200">
                <a:solidFill>
                  <a:srgbClr val="1F2A37"/>
                </a:solidFill>
              </a:defRPr>
            </a:pPr>
            <a:r>
              <a:t>Open with the problem clearly: clinicians need earlier, more structured visibility of adherence risk without losing human judgment.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1 | Project framing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Why This Problem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Missed medication can worsen long-term outcomes and destabilise chronic care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Non-adherence is shaped by routine, side effects, behaviour, and follow-up barriers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Research goal: combine prediction with practical, human-readable action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67208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757631"/>
            <a:ext cx="6574536" cy="4675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09160" y="4736592"/>
            <a:ext cx="635508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Professional local login boundary for demo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5074920"/>
            <a:ext cx="3017520" cy="128016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Explain that the project is not only about predicting a label. The goal is to make the output usable in practice by translating risk into readable summaries and realistic follow-up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2 |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Prototype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Flask web interface for login, dashboard, assessment, and model maintenance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Random Forest model for medication adherence risk prediction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Agent layer for explanation and support-plan generation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CSV-backed synthetic dataset for simple, local reproducible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965960"/>
            <a:ext cx="1554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82535"/>
                </a:solidFill>
              </a:defRPr>
            </a:pPr>
            <a:r>
              <a:t>Data layer</a:t>
            </a:r>
          </a:p>
          <a:p>
            <a:pPr>
              <a:defRPr sz="1200">
                <a:solidFill>
                  <a:srgbClr val="1F2A37"/>
                </a:solidFill>
              </a:defRPr>
            </a:pPr>
            <a:r>
              <a:t>Synthetic patient records</a:t>
            </a:r>
            <a:br/>
            <a:r>
              <a:t>patients_seed.csv -&gt; patients.csv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965960"/>
            <a:ext cx="1554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82535"/>
                </a:solidFill>
              </a:defRPr>
            </a:pPr>
            <a:r>
              <a:t>Prediction layer</a:t>
            </a:r>
          </a:p>
          <a:p>
            <a:pPr>
              <a:defRPr sz="1200">
                <a:solidFill>
                  <a:srgbClr val="1F2A37"/>
                </a:solidFill>
              </a:defRPr>
            </a:pPr>
            <a:r>
              <a:t>Random Forest model</a:t>
            </a:r>
            <a:br/>
            <a:r>
              <a:t>prediction_model.py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965960"/>
            <a:ext cx="1554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82535"/>
                </a:solidFill>
              </a:defRPr>
            </a:pPr>
            <a:r>
              <a:t>Agent layer</a:t>
            </a:r>
          </a:p>
          <a:p>
            <a:pPr>
              <a:defRPr sz="1200">
                <a:solidFill>
                  <a:srgbClr val="1F2A37"/>
                </a:solidFill>
              </a:defRPr>
            </a:pPr>
            <a:r>
              <a:t>Explanation + support plan</a:t>
            </a:r>
            <a:br/>
            <a:r>
              <a:t>agent.py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343400"/>
            <a:ext cx="2148840" cy="822960"/>
          </a:xfrm>
          <a:prstGeom prst="round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535"/>
                </a:solidFill>
              </a:defRPr>
            </a:pPr>
            <a:r>
              <a:t>Clinician inputs and patient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343400"/>
            <a:ext cx="2514600" cy="822960"/>
          </a:xfrm>
          <a:prstGeom prst="round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Risk label, explanation, and support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5074920"/>
            <a:ext cx="3017520" cy="128016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Walk from input to output: user interaction, model prediction, then agent-generated explanation and support guidance.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3 |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Clinician-Facing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Summary cards provide a quick view of case distribution across risk levels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Search, filtering, and pagination support structured review of the patient list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The dashboard acts as the triage entry point into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67208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757631"/>
            <a:ext cx="6574536" cy="4675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09160" y="4736592"/>
            <a:ext cx="635508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Population-level overview with case summary and triage entry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5074920"/>
            <a:ext cx="3017520" cy="128016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Use this slide to explain the move from a rough prototype table to a more realistic case-review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4 |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Usability Improvements for Review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Filtered dashboard states show targeted exploration by risk and condition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Pagination improves readability and keeps the interface presentation-ready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UI polish supports clearer supervisor review and MSc demonstration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67208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757631"/>
            <a:ext cx="6574536" cy="4675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09160" y="4736592"/>
            <a:ext cx="635508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Filtered dashboard showing targeted case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5074920"/>
            <a:ext cx="3017520" cy="128016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Justify the polish work here: these changes improve both usability and the credibility of the project demonstration.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5 | UX polish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From Risk Prediction to Human-Readable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Risk level and confidence are shown clearly at patient level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Explanatory factors summarise why a patient may be concerning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Support recommendations translate analytics into follow-up actions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High-risk cases explicitly retain clinician oversight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67208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tien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757631"/>
            <a:ext cx="6574536" cy="4675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09160" y="4736592"/>
            <a:ext cx="635508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Patient assessment screen with risk panel and support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5074920"/>
            <a:ext cx="3017520" cy="128016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Emphasise that the system does not stop at prediction. It also helps interpret the result in a way that is easier to discuss and act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6 | Patient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Running a New Assessment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New patient scenarios can be entered directly through the web form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Optional persistence allows demo records to be kept in the working dataset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Duplicate protection prevents repeated accidental insertion of the same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w_assessm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170127"/>
            <a:ext cx="3099816" cy="22043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09160" y="3090672"/>
            <a:ext cx="288036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Scenario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ew_assessmen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170127"/>
            <a:ext cx="3099816" cy="220431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83880" y="3090672"/>
            <a:ext cx="288036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Result with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794760"/>
            <a:ext cx="6720840" cy="132588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Describe how a live demo works: enter a case, generate a result, optionally save it, then show duplicate protection on re-submit.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7 | Live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Reproducibility, Idempotency, and Local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Health-checked startup and controlled shutdown scripts support reliable demonstrations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Fresh-start and reseed controls allow deterministic dataset restoration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Default restart behaviour preserves user-added records unless reset is explicit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Windows, macOS, and Ubuntu execution guidance is documented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67208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757631"/>
            <a:ext cx="6574536" cy="4675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09160" y="4736592"/>
            <a:ext cx="635508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Model maintenance remains local and 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5074920"/>
            <a:ext cx="3017520" cy="128016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Use this slide to defend engineering quality. The prototype is runnable, testable, and repeatable rather than a single-use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8 |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What Was 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Shell smoke validation covers login, dashboard, assessment, save, and dedupe flow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Playwright browser tests cover lifecycle behaviour and UI interaction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The current build passed both shell and browser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234440"/>
            <a:ext cx="6903720" cy="3840480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Verification evidence</a:t>
            </a:r>
          </a:p>
          <a:p>
            <a:pPr>
              <a:defRPr sz="1300">
                <a:solidFill>
                  <a:srgbClr val="E0F1F2"/>
                </a:solidFill>
                <a:latin typeface="Courier New"/>
              </a:defRPr>
            </a:pPr>
            <a:r>
              <a:t>MedAgent is running (PID 13127)</a:t>
            </a:r>
            <a:br/>
            <a:r>
              <a:t>URL: http://127.0.0.1:5000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5349240"/>
            <a:ext cx="2331720" cy="475488"/>
          </a:xfrm>
          <a:prstGeom prst="round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Smoke + browser QA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5349240"/>
            <a:ext cx="3886200" cy="91440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Keep this factual: the project was validated with executable checks, not only manual clicking.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9 |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535"/>
                </a:solidFill>
              </a:defRPr>
            </a:pPr>
            <a:r>
              <a:t>MedAgent supervisor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82535"/>
                </a:solidFill>
              </a:defRPr>
            </a:pPr>
            <a:r>
              <a:t>Contribution and Next Development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3794760" cy="5440680"/>
          </a:xfrm>
          <a:prstGeom prst="roundRect">
            <a:avLst/>
          </a:prstGeom>
          <a:solidFill>
            <a:srgbClr val="FBF8F2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64592"/>
          <a:lstStyle/>
          <a:p>
            <a:pPr algn="ctr">
              <a:defRPr sz="1400" b="1">
                <a:solidFill>
                  <a:srgbClr val="005F73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Contribution: predictive triage combined with human-readable support recommendations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Current limitation: synthetic data and local prototype scope only</a:t>
            </a:r>
          </a:p>
          <a:p>
            <a:pPr>
              <a:spcAft>
                <a:spcPts val="800"/>
              </a:spcAft>
              <a:defRPr sz="1600">
                <a:solidFill>
                  <a:srgbClr val="1F2A37"/>
                </a:solidFill>
              </a:defRPr>
            </a:pPr>
            <a:r>
              <a:t>Next steps: richer analytics, report outputs, and broader clinical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67208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8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757631"/>
            <a:ext cx="6574536" cy="4675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09160" y="4736592"/>
            <a:ext cx="6355080" cy="237744"/>
          </a:xfrm>
          <a:prstGeom prst="roundRect">
            <a:avLst/>
          </a:prstGeom>
          <a:solidFill>
            <a:srgbClr val="08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Final prototype state ready for supervisor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5074920"/>
            <a:ext cx="3017520" cy="1280160"/>
          </a:xfrm>
          <a:prstGeom prst="roundRect">
            <a:avLst/>
          </a:prstGeom>
          <a:solidFill>
            <a:srgbClr val="EBF5F6"/>
          </a:solidFill>
          <a:ln>
            <a:solidFill>
              <a:srgbClr val="CD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F73"/>
                </a:solidFill>
              </a:defRPr>
            </a:pPr>
            <a:r>
              <a:t>Speaker note</a:t>
            </a:r>
          </a:p>
          <a:p>
            <a:pPr>
              <a:defRPr sz="1100">
                <a:solidFill>
                  <a:srgbClr val="1F2A37"/>
                </a:solidFill>
              </a:defRPr>
            </a:pPr>
            <a:r>
              <a:t>Close with a balanced evaluation: be clear about the contribution, but equally clear about current prototype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00800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E6D7E"/>
                </a:solidFill>
              </a:defRPr>
            </a:pPr>
            <a:r>
              <a:t>Slide 10 |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